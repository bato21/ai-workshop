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ab4d6f0b93489a" /><Relationship Type="http://schemas.openxmlformats.org/officeDocument/2006/relationships/extended-properties" Target="/docProps/app.xml" Id="Rb7816b37aaa340ab" /><Relationship Type="http://schemas.openxmlformats.org/officeDocument/2006/relationships/officeDocument" Target="/ppt/presentation.xml" Id="Rfddfb9b74ca74d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b46cd7396c4522"/>
  </p:sldMasterIdLst>
  <p:notesMasterIdLst>
    <p:notesMasterId xmlns:r="http://schemas.openxmlformats.org/officeDocument/2006/relationships" r:id="R6d577e7764eb4ab1"/>
  </p:notesMasterIdLst>
  <p:sldIdLst>
    <p:sldId xmlns:r="http://schemas.openxmlformats.org/officeDocument/2006/relationships" id="256" r:id="R85c83076942247d4"/>
    <p:sldId xmlns:r="http://schemas.openxmlformats.org/officeDocument/2006/relationships" id="257" r:id="R351e92b3455b4886"/>
    <p:sldId xmlns:r="http://schemas.openxmlformats.org/officeDocument/2006/relationships" id="258" r:id="Raa04545ba9804d38"/>
    <p:sldId xmlns:r="http://schemas.openxmlformats.org/officeDocument/2006/relationships" id="259" r:id="Ra2dfa1c822aa471a"/>
    <p:sldId xmlns:r="http://schemas.openxmlformats.org/officeDocument/2006/relationships" id="260" r:id="R6dd253b919cf481f"/>
    <p:sldId xmlns:r="http://schemas.openxmlformats.org/officeDocument/2006/relationships" id="261" r:id="R8bdadb785a4c430d"/>
    <p:sldId xmlns:r="http://schemas.openxmlformats.org/officeDocument/2006/relationships" id="262" r:id="R1995598752054825"/>
    <p:sldId xmlns:r="http://schemas.openxmlformats.org/officeDocument/2006/relationships" id="263" r:id="Rc30c1cb0c2da4b51"/>
    <p:sldId xmlns:r="http://schemas.openxmlformats.org/officeDocument/2006/relationships" id="264" r:id="Rbbd676d9e5f8416e"/>
    <p:sldId xmlns:r="http://schemas.openxmlformats.org/officeDocument/2006/relationships" id="265" r:id="Rfe9e7b4150f643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6628b90a2e41f3" /><Relationship Type="http://schemas.openxmlformats.org/officeDocument/2006/relationships/slideMaster" Target="/ppt/slideMasters/slideMaster1.xml" Id="R6ab46cd7396c4522" /><Relationship Type="http://schemas.openxmlformats.org/officeDocument/2006/relationships/notesMaster" Target="/ppt/notesMasters/notesMaster1.xml" Id="R6d577e7764eb4ab1" /><Relationship Type="http://schemas.openxmlformats.org/officeDocument/2006/relationships/presProps" Target="/ppt/presProps.xml" Id="Rc511da6096a14c14" /><Relationship Type="http://schemas.openxmlformats.org/officeDocument/2006/relationships/tableStyles" Target="/ppt/tableStyles.xml" Id="Rd50f75e2593247a1" /><Relationship Type="http://schemas.openxmlformats.org/officeDocument/2006/relationships/slide" Target="/ppt/slides/slide1.xml" Id="R85c83076942247d4" /><Relationship Type="http://schemas.openxmlformats.org/officeDocument/2006/relationships/slide" Target="/ppt/slides/slide2.xml" Id="R351e92b3455b4886" /><Relationship Type="http://schemas.openxmlformats.org/officeDocument/2006/relationships/slide" Target="/ppt/slides/slide3.xml" Id="Raa04545ba9804d38" /><Relationship Type="http://schemas.openxmlformats.org/officeDocument/2006/relationships/slide" Target="/ppt/slides/slide4.xml" Id="Ra2dfa1c822aa471a" /><Relationship Type="http://schemas.openxmlformats.org/officeDocument/2006/relationships/slide" Target="/ppt/slides/slide5.xml" Id="R6dd253b919cf481f" /><Relationship Type="http://schemas.openxmlformats.org/officeDocument/2006/relationships/slide" Target="/ppt/slides/slide6.xml" Id="R8bdadb785a4c430d" /><Relationship Type="http://schemas.openxmlformats.org/officeDocument/2006/relationships/slide" Target="/ppt/slides/slide7.xml" Id="R1995598752054825" /><Relationship Type="http://schemas.openxmlformats.org/officeDocument/2006/relationships/slide" Target="/ppt/slides/slide8.xml" Id="Rc30c1cb0c2da4b51" /><Relationship Type="http://schemas.openxmlformats.org/officeDocument/2006/relationships/slide" Target="/ppt/slides/slide9.xml" Id="Rbbd676d9e5f8416e" /><Relationship Type="http://schemas.openxmlformats.org/officeDocument/2006/relationships/slide" Target="/ppt/slides/slide10.xml" Id="Rfe9e7b4150f643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74b507058047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d5817eb09148a3" /><Relationship Type="http://schemas.openxmlformats.org/officeDocument/2006/relationships/notesMaster" Target="/ppt/notesMasters/notesMaster1.xml" Id="Rbf852e7c481c4d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cb52374f4f63" /><Relationship Type="http://schemas.openxmlformats.org/officeDocument/2006/relationships/notesMaster" Target="/ppt/notesMasters/notesMaster1.xml" Id="R424cd9a7a8eb40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051586e96f41da" /><Relationship Type="http://schemas.openxmlformats.org/officeDocument/2006/relationships/notesMaster" Target="/ppt/notesMasters/notesMaster1.xml" Id="R19996f6eb0fb41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35cf1e49904b49" /><Relationship Type="http://schemas.openxmlformats.org/officeDocument/2006/relationships/notesMaster" Target="/ppt/notesMasters/notesMaster1.xml" Id="Rc902de800bc240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9b3ca5531d4799" /><Relationship Type="http://schemas.openxmlformats.org/officeDocument/2006/relationships/notesMaster" Target="/ppt/notesMasters/notesMaster1.xml" Id="R98fb83a0297143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10fea383f3435d" /><Relationship Type="http://schemas.openxmlformats.org/officeDocument/2006/relationships/notesMaster" Target="/ppt/notesMasters/notesMaster1.xml" Id="R39ae3374031747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d4a50ea1324c22" /><Relationship Type="http://schemas.openxmlformats.org/officeDocument/2006/relationships/notesMaster" Target="/ppt/notesMasters/notesMaster1.xml" Id="Re94094a8a6ba4e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27cf1f5b6f425f" /><Relationship Type="http://schemas.openxmlformats.org/officeDocument/2006/relationships/notesMaster" Target="/ppt/notesMasters/notesMaster1.xml" Id="R27c716f5f9b840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b4a7121e2143d4" /><Relationship Type="http://schemas.openxmlformats.org/officeDocument/2006/relationships/notesMaster" Target="/ppt/notesMasters/notesMaster1.xml" Id="Rdcab752281634e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2714a1638a4769" /><Relationship Type="http://schemas.openxmlformats.org/officeDocument/2006/relationships/notesMaster" Target="/ppt/notesMasters/notesMaster1.xml" Id="R2f51d091378e43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15d92e0184f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a34695a6745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520dbfe054c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25a4a84df49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ad7227ab348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1f0471ac94a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BF4B34-399E-4509-A227-0801ABC4A6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3C2BF1-D32B-4D66-B16B-637881A8FF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C58C89-4766-40BE-8A7D-FDD43B9F9D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C6776C-A143-44E7-A323-395B741F78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9158B2-8317-4F17-8877-DB1BDA16A5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A1ED8B-FB00-475E-AC70-3E1A928D5F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9B6EE5-4E56-4B53-B428-9CABDD468C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639E9C-B3B2-4B4A-9C93-9C7750FB09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FAF03D-38EB-455F-8971-A3AFECD96B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50CDA0-84DE-44A9-8E08-770CBFDC28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7f4cc99b0f4621" /><Relationship Type="http://schemas.openxmlformats.org/officeDocument/2006/relationships/slideLayout" Target="/ppt/slideLayouts/slideLayout1.xml" Id="Rb28a4a15949240a5" /><Relationship Type="http://schemas.openxmlformats.org/officeDocument/2006/relationships/slideLayout" Target="/ppt/slideLayouts/slideLayout2.xml" Id="Rdb3cce8173b84977" /><Relationship Type="http://schemas.openxmlformats.org/officeDocument/2006/relationships/slideLayout" Target="/ppt/slideLayouts/slideLayout3.xml" Id="Rbc4896fc46674b61" /><Relationship Type="http://schemas.openxmlformats.org/officeDocument/2006/relationships/slideLayout" Target="/ppt/slideLayouts/slideLayout4.xml" Id="R3c77257669064ea8" /><Relationship Type="http://schemas.openxmlformats.org/officeDocument/2006/relationships/slideLayout" Target="/ppt/slideLayouts/slideLayout5.xml" Id="Rd534a97318b14ec6" /><Relationship Type="http://schemas.openxmlformats.org/officeDocument/2006/relationships/slideLayout" Target="/ppt/slideLayouts/slideLayout6.xml" Id="Ra867f1f32f354e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8a4a15949240a5"/>
    <p:sldLayoutId xmlns:r="http://schemas.openxmlformats.org/officeDocument/2006/relationships" id="2147483650" r:id="Rdb3cce8173b84977"/>
    <p:sldLayoutId xmlns:r="http://schemas.openxmlformats.org/officeDocument/2006/relationships" id="2147483651" r:id="Rbc4896fc46674b61"/>
    <p:sldLayoutId xmlns:r="http://schemas.openxmlformats.org/officeDocument/2006/relationships" id="2147483652" r:id="R3c77257669064ea8"/>
    <p:sldLayoutId xmlns:r="http://schemas.openxmlformats.org/officeDocument/2006/relationships" id="2147483653" r:id="Rd534a97318b14ec6"/>
    <p:sldLayoutId xmlns:r="http://schemas.openxmlformats.org/officeDocument/2006/relationships" id="2147483654" r:id="Ra867f1f32f354e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d0e708afd493d" /><Relationship Type="http://schemas.openxmlformats.org/officeDocument/2006/relationships/notesSlide" Target="/ppt/notesSlides/notesSlide1.xml" Id="R7b126e252a164d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d52ab7307b4021" /><Relationship Type="http://schemas.openxmlformats.org/officeDocument/2006/relationships/notesSlide" Target="/ppt/notesSlides/notesSlide2.xml" Id="R14d17205f1f241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d690d1677e441b" /><Relationship Type="http://schemas.openxmlformats.org/officeDocument/2006/relationships/notesSlide" Target="/ppt/notesSlides/notesSlide3.xml" Id="Ra825104b02514c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6daa1f896a4cde" /><Relationship Type="http://schemas.openxmlformats.org/officeDocument/2006/relationships/notesSlide" Target="/ppt/notesSlides/notesSlide4.xml" Id="R59701783fc524c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af31c9b8314797" /><Relationship Type="http://schemas.openxmlformats.org/officeDocument/2006/relationships/notesSlide" Target="/ppt/notesSlides/notesSlide5.xml" Id="R58fbe1cc13b64e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e1832b206b41f0" /><Relationship Type="http://schemas.openxmlformats.org/officeDocument/2006/relationships/notesSlide" Target="/ppt/notesSlides/notesSlide6.xml" Id="R2428729dbfa64c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35b66537c44b1" /><Relationship Type="http://schemas.openxmlformats.org/officeDocument/2006/relationships/notesSlide" Target="/ppt/notesSlides/notesSlide7.xml" Id="Rd26703dce2e042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c619275b7b4e61" /><Relationship Type="http://schemas.openxmlformats.org/officeDocument/2006/relationships/notesSlide" Target="/ppt/notesSlides/notesSlide8.xml" Id="Ra94463e6903247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d3cf2bf0b40d3" /><Relationship Type="http://schemas.openxmlformats.org/officeDocument/2006/relationships/notesSlide" Target="/ppt/notesSlides/notesSlide9.xml" Id="R82432a90a3d04c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7fe8b393ae49a0" /><Relationship Type="http://schemas.openxmlformats.org/officeDocument/2006/relationships/notesSlide" Target="/ppt/notesSlides/notesSlide10.xml" Id="R3a73c2b055864b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7E0B3-409B-43C3-9221-FA3F8FD4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56C9D-4B31-40A9-9B2B-DA748995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8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11:10 · FRIDAY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7C906-6010-48A6-9537-1153B3EC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01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Regularization: L1, L2 and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0949B-1E8F-4C53-B698-5B60C02D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341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IIT414W   9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1081D-1161-46A2-94BD-55766A44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9AE9D-607C-4EE2-9B7A-B15A8E50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does a stronger penalty change coefficients and validation error?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56EC2-59A0-4FD1-9862-E42FF78B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38625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Synthetic pit-stop data · same split as Thursday · reserved test untouched</a:t>
            </a:r>
          </a:p>
        </p:txBody>
      </p:sp>
    </p:spTree>
    <p:extLst>
      <p:ext uri="{BB962C8B-B14F-4D97-AF65-F5344CB8AC3E}">
        <p14:creationId xmlns:p14="http://schemas.microsoft.com/office/powerpoint/2010/main" val="398475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E077A-1ED8-4DFE-A512-29FDDC00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ADA25-99B0-4021-9153-ACC35C73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8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START HERE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FE66A-0BE9-45E4-8C73-73A9F246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01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Today’s objective and 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3C9C0-57E0-4B43-918D-99306E9C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341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IIT414W   9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69E9B-D530-4E38-AE52-62AFB3E1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648F4-E352-4A31-ADD6-7CC6A585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WHAT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27E8F-B891-41BD-B452-5E657D97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24125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 Ridge/L2 and Lasso/L1 at several alpha 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3AAB8-200B-477E-AD61-8A8FF0AD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B91A7-E856-4DCB-80A1-6E3313C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a setting from validation evidence, not from habit.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9466E-8205-419A-B373-ADCB84B0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HAND 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984A5-78F9-4381-8D48-3EFC1394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43375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Notebook A–D on screen by 13:35; Canvas ticket by 13:40.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E0C2B-8BCD-4091-9F2E-A8ED506C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ROUTE   Recall → predict → run/read → compare → decide</a:t>
            </a:r>
          </a:p>
        </p:txBody>
      </p:sp>
    </p:spTree>
    <p:extLst>
      <p:ext uri="{BB962C8B-B14F-4D97-AF65-F5344CB8AC3E}">
        <p14:creationId xmlns:p14="http://schemas.microsoft.com/office/powerpoint/2010/main" val="1696832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803D1-58AF-404A-82C9-0BF8FE32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92C14-2301-48C9-8632-D65B62EE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8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11:20–11:40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D8C03-12A7-409D-B45F-7E087B74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01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same prediction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56E41-674A-46F7-B23E-1FAF749C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341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IIT414W   9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5A5FB-DCE3-41DC-BF0E-1D83DADD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64BD8-3172-4C10-81D7-A7F61ECB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25D17-3DF1-4942-8CAC-E9F3B035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52700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Pit-stop duration in seconds.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20EF8-7B4E-44C8-AEEF-4851AE2F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60043-F6FD-45F0-9E2E-355A7FC5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Weekends 1–8 · fit every learned step here.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F7BE1-A7E6-4261-B82F-8AF7513E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38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8618F-2FF4-48C2-9220-5ED89359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38625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Weekends 9–10 · compare MAE here.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829A2-BB9B-499C-A064-67B183CC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RESERVE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B77E0-D681-45CA-A6D5-8F6AE20A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86350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Weekends 11–12 · no score today.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96B2A-C5C7-47D1-8B85-C02A74A7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Exclude incident_report_after_stop: it arrives too late.</a:t>
            </a:r>
          </a:p>
        </p:txBody>
      </p:sp>
    </p:spTree>
    <p:extLst>
      <p:ext uri="{BB962C8B-B14F-4D97-AF65-F5344CB8AC3E}">
        <p14:creationId xmlns:p14="http://schemas.microsoft.com/office/powerpoint/2010/main" val="1340474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CE46F-C6DB-4AE7-A82A-DFE5542F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B5319-336B-4360-B749-ECF5C31B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8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11:40–12:00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2FCD1-48DF-4AB7-AB76-F7F013A4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01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alpha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A5F86-671F-4E52-A2B0-31D7F6B4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341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IIT414W   9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44A77-389C-462B-99B1-86504CBC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6DE02-23A7-4592-A13E-B5B8DB27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regression coefficient says how a feature contributes to predicted seconds.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AEE3E-86EC-4D7A-BFAA-7B4ED5ED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Regularization adds a cost for large coefficients during training.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047DA-BC6D-43AD-A63F-BA36C3CB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Within one model family: larger alpha → stronger shrinkage.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7924E-5653-4E4A-9993-DFA0D832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054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It does not repair leakage or a bad time split.</a:t>
            </a:r>
          </a:p>
        </p:txBody>
      </p:sp>
    </p:spTree>
    <p:extLst>
      <p:ext uri="{BB962C8B-B14F-4D97-AF65-F5344CB8AC3E}">
        <p14:creationId xmlns:p14="http://schemas.microsoft.com/office/powerpoint/2010/main" val="1794930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5F95A-4258-4769-B824-F94136AA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A6F05-32E5-40A5-BCB9-B1401462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8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PENALTY MECHANICS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3BAB3-8C24-4C81-8BC6-3548ABE3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01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 shrinks; L1 can set zeros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860B7-A6C5-4705-B6C5-1A66BD99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341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IIT414W   9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AD66B-C697-4741-937C-2C254D51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37157-7591-41D4-B996-07843F3A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RIDGE · L2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31246-BC3E-4B1C-9ABF-9B14349E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90800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Penalty uses squared coefficients; they usually stay nonzero.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86179-7BFC-4F47-8E45-EBAE6A9C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LASSO · L1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9CB13-ABAE-4804-A3AB-4DEA2556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Penalty uses absolute coefficients; some may become exactly zero.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29205-2E35-4F73-A656-A7A308FA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 coefficients [2, −1, 0.5]: L1 = 3.5; L2 = 5.25.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F31F4-AA41-433B-880D-58E4E263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Alpha 1 in Ridge is not the same strength as alpha 1 in Lasso.</a:t>
            </a:r>
          </a:p>
        </p:txBody>
      </p:sp>
    </p:spTree>
    <p:extLst>
      <p:ext uri="{BB962C8B-B14F-4D97-AF65-F5344CB8AC3E}">
        <p14:creationId xmlns:p14="http://schemas.microsoft.com/office/powerpoint/2010/main" val="4766882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821BF-B34E-4E5D-BCD9-CCA03FC7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55352-7187-425C-8711-25D6ED58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8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12:00–12:25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A31F0-6D81-46E5-831C-DBE4A778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01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fair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FEB04-1D3C-419F-A399-9C7FDEF7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341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IIT414W   9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1511B-F577-4E6E-B13E-D1C68156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53EF1-3340-4FEF-AE16-20837F25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SAME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412FE-3202-4E0B-9152-A86FF7EB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 1–8 · validate 9–10 · test reserved.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A1466-9F53-4A6E-BCDD-A2953DF6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SAME PREP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3BB9B-CC01-4ECA-B4F5-EBD63183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Impute and encode inside each Pipeline fit.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1E3C8-FDCE-4B71-A4E3-C8724E99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SAME METRIC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9CBBB-14CE-45AC-9646-40DFE041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MAE in seconds; lower is better.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424F1-7A06-4919-B3DE-F96A5314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Median baseline: 0.1606 s   ·   Ridge(alpha=1): 0.1152 s</a:t>
            </a:r>
          </a:p>
        </p:txBody>
      </p:sp>
    </p:spTree>
    <p:extLst>
      <p:ext uri="{BB962C8B-B14F-4D97-AF65-F5344CB8AC3E}">
        <p14:creationId xmlns:p14="http://schemas.microsoft.com/office/powerpoint/2010/main" val="15840080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C67E3-88AC-4D12-B42A-0063AB84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004D9-7355-4F4B-83E5-78B6A159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8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12:40–12:55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1E78A-EAEF-493B-A960-9CEBF5D7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01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Ridge: stronger is not always better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15ED8-8CB2-4AB1-9D34-338E9E8E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341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IIT414W   9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E5B3E-6014-49BB-ABA3-60B31391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6C775-89B3-40C9-8F60-71E513E8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alpha 0.1     MAE 0.1155 s     coefficient size 0.344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5C567-3698-4877-A3D8-79DC57CB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alpha 1        MAE 0.1152 s     coefficient size 0.335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EAAA7-D118-43E9-A1A1-602F487A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alpha 10      MAE 0.1157 s     coefficient size 0.268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21300-8B83-4283-A31F-0B4C4467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alpha 100    MAE 0.1399 s     coefficient size 0.110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DAAEC-361B-40E2-963F-A9ABB0DB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All nine coefficients remain nonzero in this example.</a:t>
            </a:r>
          </a:p>
        </p:txBody>
      </p:sp>
    </p:spTree>
    <p:extLst>
      <p:ext uri="{BB962C8B-B14F-4D97-AF65-F5344CB8AC3E}">
        <p14:creationId xmlns:p14="http://schemas.microsoft.com/office/powerpoint/2010/main" val="10317291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DA43E-E442-40FD-A53E-AF64047A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B7C7F-7131-4334-98EF-2EDA5939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8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12:55–13:10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B7C9C-633B-4213-92EA-37064BEC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01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Lasso: sparsity has a cost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87C5B-0737-4E4A-8B32-71C61E4F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341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IIT414W   9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87317-19C3-4AA9-A57A-90473F67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41B2F-686B-47CC-8D85-1D9A0E05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alpha 0.001    MAE 0.1158 s    2 of 9 coefficients zero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646B4-B1FB-4173-A94D-4A72813C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alpha 0.01      MAE 0.1170 s    4 of 9 coefficients zero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36F57-BD2A-4F13-9FA8-49C5E951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alpha 0.1        MAE 0.1639 s    8 of 9 coefficients zero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31641-85FB-4841-9E60-3555FE7A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769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A shorter model does not automatically predict better.</a:t>
            </a:r>
          </a:p>
        </p:txBody>
      </p:sp>
    </p:spTree>
    <p:extLst>
      <p:ext uri="{BB962C8B-B14F-4D97-AF65-F5344CB8AC3E}">
        <p14:creationId xmlns:p14="http://schemas.microsoft.com/office/powerpoint/2010/main" val="15683669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4DEA9-5F66-493D-A520-70DFD1EC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4BFFF-9316-44BC-BC79-DCBD5AE2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8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13:10–13:35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398A9-A72C-4AE5-ACD2-54FC0026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01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on validation, then explain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651A8-4907-49DD-B91E-6A115308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341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IIT414W   9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A4184-366B-46E1-8266-58DBE915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4A907-F7EE-4E8E-BDF7-87F2ACDB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1 · SELECT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9E931-7C96-4A96-910B-C1F7D2D7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43175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one setting; cite its validation MAE and coefficient pattern.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E26EE-DD28-4B79-9C24-DACB2914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2 · LIMIT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84C51-7314-4698-85C1-4A5659DC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00450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32 synthetic validation stops; tiny MAE gaps are weak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A9346-BA2F-4A8A-BB0E-6F175CE9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577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3 · PROTECT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11396-652F-4A67-BD1F-8E4184E7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57725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choose alpha by the lowest reserved-test error.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E4FAD-964D-4D00-9F3D-224DE058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Each partner gives a 20-second explanation.</a:t>
            </a:r>
          </a:p>
        </p:txBody>
      </p:sp>
    </p:spTree>
    <p:extLst>
      <p:ext uri="{BB962C8B-B14F-4D97-AF65-F5344CB8AC3E}">
        <p14:creationId xmlns:p14="http://schemas.microsoft.com/office/powerpoint/2010/main" val="1041637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77BC3-9C9F-4510-8E92-96F60000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CF872-BF69-4697-B173-0D35A705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8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13:35–13:40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37F50-BD81-42C2-84CA-F1DEB8C9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001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Save, show and submit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A7039-25E5-41DC-80A2-9209DFDA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341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IIT414W   9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5F9C8-8969-4E35-AAA6-11969BDD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4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A4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418CE-693E-4543-BA18-B8DE420F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notebook A–D. Show your teacher by 13:35.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86CB0-D65D-45B8-B3F0-EE059B86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000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Canvas exit ticket: submit two English sentences by 13:40.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C5C72-13DA-4668-861D-13EB339D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28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Next week: individual applied control. Today’s oral explanation is practice.</a:t>
            </a:r>
          </a:p>
        </p:txBody>
      </p:sp>
    </p:spTree>
    <p:extLst>
      <p:ext uri="{BB962C8B-B14F-4D97-AF65-F5344CB8AC3E}">
        <p14:creationId xmlns:p14="http://schemas.microsoft.com/office/powerpoint/2010/main" val="237973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2026-10-08T20:04:36.6640000Z</dcterms:created>
  <dcterms:modified xsi:type="dcterms:W3CDTF">2026-10-08T20:04:36.6640000Z</dcterms:modified>
</coreProperties>
</file>